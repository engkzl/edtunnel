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PEMBELAJARAN MENDALAM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Ringkasan Materi &amp; Panduan Implementasi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Gambaran Umum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PM diterapkan dari PAUD, pendidikan dasar, hingga menengah.</a:t>
            </a:r>
          </a:p>
          <a:p>
            <a:pPr/>
            <a:r>
              <a:rPr sz="2000"/>
              <a:t>Tahap awal diprioritaskan pada pendidikan dasar dan menengah.</a:t>
            </a:r>
          </a:p>
          <a:p>
            <a:pPr/>
            <a:r>
              <a:rPr sz="2000"/>
              <a:t>Tujuan: pendidikan yang bermakna, kontekstual, dan berpihak pada murid.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Karakteristik Kurikulum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Dinamis, Fleksibel, Responsif:</a:t>
            </a:r>
          </a:p>
          <a:p>
            <a:pPr lvl="1"/>
            <a:r>
              <a:rPr sz="2000"/>
              <a:t>Dapat diperbarui mengikuti teknologi, budaya, kebutuhan masyarakat.</a:t>
            </a:r>
          </a:p>
          <a:p>
            <a:pPr lvl="1"/>
            <a:r>
              <a:rPr sz="2000"/>
              <a:t>Fleksibel sesuai konteks lokal tanpa kehilangan relevansi global.</a:t>
            </a:r>
          </a:p>
          <a:p>
            <a:pPr/>
            <a:r>
              <a:rPr sz="2000"/>
              <a:t>Berpusat pada Peserta Didik:</a:t>
            </a:r>
          </a:p>
          <a:p>
            <a:pPr lvl="1"/>
            <a:r>
              <a:rPr sz="2000"/>
              <a:t>Memberi ruang personalisasi sesuai minat, motivasi, gaya belajar.</a:t>
            </a:r>
          </a:p>
          <a:p>
            <a:pPr/>
            <a:r>
              <a:rPr sz="2000"/>
              <a:t>Pembelajaran Terpadu:</a:t>
            </a:r>
          </a:p>
          <a:p>
            <a:pPr lvl="1"/>
            <a:r>
              <a:rPr sz="2000"/>
              <a:t>Lintas disiplin, multidisipliner dan antardisiplin, terhubung ke kehidupan nyata.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Karakteristik Kurikulum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Relevan &amp; Peduli Masyarakat:</a:t>
            </a:r>
          </a:p>
          <a:p>
            <a:pPr lvl="1"/>
            <a:r>
              <a:rPr sz="2000"/>
              <a:t>Isu nyata: sosial, politik, kesehatan, energi, lingkungan; dorong kontribusi nyata.</a:t>
            </a:r>
          </a:p>
          <a:p>
            <a:pPr/>
            <a:r>
              <a:rPr sz="2000"/>
              <a:t>Keterampilan Tingkat Tinggi:</a:t>
            </a:r>
          </a:p>
          <a:p>
            <a:pPr lvl="1"/>
            <a:r>
              <a:rPr sz="2000"/>
              <a:t>Kreativitas, kolaborasi, berpikir kritis, pemecahan masalah via proyek dan penelitian.</a:t>
            </a:r>
          </a:p>
          <a:p>
            <a:pPr/>
            <a:r>
              <a:rPr sz="2000"/>
              <a:t>Pemanfaatan Teknologi Digital:</a:t>
            </a:r>
          </a:p>
          <a:p>
            <a:pPr lvl="1"/>
            <a:r>
              <a:rPr sz="2000"/>
              <a:t>Interaksi diperkuat platform daring/luring; jangkau daerah terpencil.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Perencanaan Pembelajaran Mendalam (PM)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1) Identifikasi</a:t>
            </a:r>
          </a:p>
          <a:p>
            <a:pPr/>
            <a:r>
              <a:rPr sz="2000"/>
              <a:t>2) Desain Pembelajaran</a:t>
            </a:r>
          </a:p>
          <a:p>
            <a:pPr/>
            <a:r>
              <a:rPr sz="2000"/>
              <a:t>3) Pengalaman Belajar</a:t>
            </a:r>
          </a:p>
          <a:p>
            <a:pPr/>
            <a:r>
              <a:rPr sz="2000"/>
              <a:t>4) Asesmen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Identifikasi: Kesiapan Murid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Analisis pengetahuan awal (pre-test, diskusi, pertanyaan pemantik).</a:t>
            </a:r>
          </a:p>
          <a:p>
            <a:pPr/>
            <a:r>
              <a:rPr sz="2000"/>
              <a:t>Observasi &amp; refleksi: keterlibatan, rasa ingin tahu, koneksi dengan pengalaman.</a:t>
            </a:r>
          </a:p>
          <a:p>
            <a:pPr/>
            <a:r>
              <a:rPr sz="2000"/>
              <a:t>Inventarisasi gaya belajar &amp; minat (angket/wawancara).</a:t>
            </a:r>
          </a:p>
          <a:p>
            <a:pPr/>
            <a:r>
              <a:rPr sz="2000"/>
              <a:t>Analisis HOTS melalui tugas/proyek kecil untuk pemetaan pendampingan.</a:t>
            </a:r>
          </a:p>
          <a:p>
            <a:pPr/>
            <a:r>
              <a:rPr sz="2000"/>
              <a:t>Perhatikan konteks sosial-emosional dan diferensiasi strategi.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Identifikasi: Karakteristik Mata Pelajaran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Fokus pada 6C: Character, Citizenship, Collaboration, Communication, Creativity, Critical Thinking.</a:t>
            </a:r>
          </a:p>
          <a:p>
            <a:pPr/>
            <a:r>
              <a:rPr sz="2000"/>
              <a:t>Selaraskan dengan 8 Dimensi Profil Lulusan.</a:t>
            </a:r>
          </a:p>
          <a:p>
            <a:pPr/>
            <a:r>
              <a:rPr sz="2000"/>
              <a:t>Tentukan kompetensi esensial; hindari fokus hafalan semata.</a:t>
            </a:r>
          </a:p>
          <a:p>
            <a:pPr/>
            <a:r>
              <a:rPr sz="2000"/>
              <a:t>Kaitkan dengan konteks nyata (mis. IPA–lingkungan, Ekonomi–bisnis digital).</a:t>
            </a:r>
          </a:p>
          <a:p>
            <a:pPr/>
            <a:r>
              <a:rPr sz="2000"/>
              <a:t>Gunakan strategi eksploratif &amp; reflektif: PjBL, PBL, inquiry, QBL.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Identifikasi: Dimensi Profil Lulusan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1) Keimanan &amp; Ketakwaan</a:t>
            </a:r>
          </a:p>
          <a:p>
            <a:pPr/>
            <a:r>
              <a:rPr sz="2000"/>
              <a:t>2) Kewargaan</a:t>
            </a:r>
          </a:p>
          <a:p>
            <a:pPr/>
            <a:r>
              <a:rPr sz="2000"/>
              <a:t>3) Penalaran Kritis</a:t>
            </a:r>
          </a:p>
          <a:p>
            <a:pPr/>
            <a:r>
              <a:rPr sz="2000"/>
              <a:t>4) Kreativitas</a:t>
            </a:r>
          </a:p>
          <a:p>
            <a:pPr/>
            <a:r>
              <a:rPr sz="2000"/>
              <a:t>5) Kolaborasi</a:t>
            </a:r>
          </a:p>
          <a:p>
            <a:pPr/>
            <a:r>
              <a:rPr sz="2000"/>
              <a:t>6) Kemandirian</a:t>
            </a:r>
          </a:p>
          <a:p>
            <a:pPr/>
            <a:r>
              <a:rPr sz="2000"/>
              <a:t>7) Kesehatan</a:t>
            </a:r>
          </a:p>
          <a:p>
            <a:pPr/>
            <a:r>
              <a:rPr sz="2000"/>
              <a:t>8) Komunikasi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Desain: Topik Kontekstual &amp; Relevan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Pahami kebutuhan, minat, latar belakang, dan penguasaan awal murid.</a:t>
            </a:r>
          </a:p>
          <a:p>
            <a:pPr/>
            <a:r>
              <a:rPr sz="2000"/>
              <a:t>Hubungkan ke kehidupan nyata: studi kasus, isu aktual, isu sosial.</a:t>
            </a:r>
          </a:p>
          <a:p>
            <a:pPr/>
            <a:r>
              <a:rPr sz="2000"/>
              <a:t>Contoh topik: perubahan iklim, kesehatan masyarakat, literasi keuangan.</a:t>
            </a:r>
          </a:p>
          <a:p>
            <a:pPr/>
            <a:r>
              <a:rPr sz="2000"/>
              <a:t>Manfaatkan sumber digital: video interaktif, simulasi, eksperimen virtual.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Desain: Lintas Disiplin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Mulai dari tema utama; hubungkan konsep dari berbagai bidang.</a:t>
            </a:r>
          </a:p>
          <a:p>
            <a:pPr/>
            <a:r>
              <a:rPr sz="2000"/>
              <a:t>Gunakan STEAM/PBL untuk pemahaman holistik masalah nyata.</a:t>
            </a:r>
          </a:p>
          <a:p>
            <a:pPr/>
            <a:r>
              <a:rPr sz="2000"/>
              <a:t>Proyek lintas mapel untuk berpikir kritis &amp; sistematis.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Desain: Kerangka Pembelajaran Mendalam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Praktik Pedagogis: proyek, inquiry, problem-based learning.</a:t>
            </a:r>
          </a:p>
          <a:p>
            <a:pPr/>
            <a:r>
              <a:rPr sz="2000"/>
              <a:t>Kemitraan Pembelajaran: orang tua, komunitas, industri, akademisi.</a:t>
            </a:r>
          </a:p>
          <a:p>
            <a:pPr/>
            <a:r>
              <a:rPr sz="2000"/>
              <a:t>Lingkungan Belajar: kelas kreatif, lab; forum LMS &amp; ruang digital.</a:t>
            </a:r>
          </a:p>
          <a:p>
            <a:pPr/>
            <a:r>
              <a:rPr sz="2000"/>
              <a:t>Teknologi Digital: e-learning, simulasi, AR/AI untuk personalisasi.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Pengalaman Belajar: Prinsip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Berkesadaran: perhatikan kebutuhan unik, keberagaman, kondisi nyata.</a:t>
            </a:r>
          </a:p>
          <a:p>
            <a:pPr/>
            <a:r>
              <a:rPr sz="2000"/>
              <a:t>Bermakna: dekat dengan pengalaman murid; bangun pemahaman mendalam.</a:t>
            </a:r>
          </a:p>
          <a:p>
            <a:pPr/>
            <a:r>
              <a:rPr sz="2000"/>
              <a:t>Menggembirakan: permainan edukatif, eksperimen interaktif, proyek kolaboratif.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Pengalaman Belajar: Tahapan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Memahami: teori, diskusi aktif, demonstrasi.</a:t>
            </a:r>
          </a:p>
          <a:p>
            <a:pPr/>
            <a:r>
              <a:rPr sz="2000"/>
              <a:t>Mengaplikasikan: tugas bermakna, eksperimen, proyek kontekstual.</a:t>
            </a:r>
          </a:p>
          <a:p>
            <a:pPr/>
            <a:r>
              <a:rPr sz="2000"/>
              <a:t>Merefleksi: tinjau capaian, tantangan, strategi perbaikan.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Implementasi 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Perencanaan: karakteristik murid, materi kontekstual, sumber daya, kolaborasi.</a:t>
            </a:r>
          </a:p>
          <a:p>
            <a:pPr/>
            <a:r>
              <a:rPr sz="2000"/>
              <a:t>Pelaksanaan: berkesadaran, bermakna, menggembirakan; memahami–mengaplikasi–merefleksi.</a:t>
            </a:r>
          </a:p>
          <a:p>
            <a:pPr/>
            <a:r>
              <a:rPr sz="2000"/>
              <a:t>Asesmen: kedalaman konsep, berpikir kritis, kesiapan aplikasi nyata.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Asesmen: Awal Pembelajaran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Tujuan: memetakan kesiapan, pengetahuan awal, kebutuhan individual.</a:t>
            </a:r>
          </a:p>
          <a:p>
            <a:pPr/>
            <a:r>
              <a:rPr sz="2000"/>
              <a:t>Manfaat: sesuaikan pendekatan, rancang pembelajaran inklusif, identifikasi kesenjangan.</a:t>
            </a:r>
          </a:p>
          <a:p>
            <a:pPr/>
            <a:r>
              <a:rPr sz="2000"/>
              <a:t>Metode: pre-test, diskusi awal, kuesioner, survei minat, wawancara singkat.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Asesmen: Proses/Formatif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Tujuan: pantau perkembangan, beri umpan balik real-time, sesuaikan strategi.</a:t>
            </a:r>
          </a:p>
          <a:p>
            <a:pPr/>
            <a:r>
              <a:rPr sz="2000"/>
              <a:t>Teknik: observasi, refleksi, diskusi kelompok, kuis singkat, jurnal, pertanyaan terbuka.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Asesmen: Akhir/Sumatif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Evaluasi capaian kompetensi dan kualitas pemahaman &amp; penerapan.</a:t>
            </a:r>
          </a:p>
          <a:p>
            <a:pPr/>
            <a:r>
              <a:rPr sz="2000"/>
              <a:t>Gunakan penilaian autentik untuk keterampilan abad 21.</a:t>
            </a:r>
          </a:p>
          <a:p>
            <a:pPr/>
            <a:r>
              <a:rPr sz="2000"/>
              <a:t>Metode: ujian, portofolio, proyek, presentasi, studi kasus, produk nyata.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Pembelajaran Mendalam memerdekakan murid sebagai pencipta makna.</a:t>
            </a:r>
          </a:p>
          <a:p>
            <a:pPr/>
            <a:r>
              <a:rPr sz="2000"/>
              <a:t>Dengan perencanaan berkesadaran, bermakna, menggembirakan, sekolah membangun masa depan cerah.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